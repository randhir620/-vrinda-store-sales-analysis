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howGuides="1">
      <p:cViewPr>
        <p:scale>
          <a:sx n="69" d="100"/>
          <a:sy n="69" d="100"/>
        </p:scale>
        <p:origin x="-412" y="-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randh\OneDrive\Desktop\Vrinda%20Store%20Data%20Analysis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randh\OneDrive\Desktop\Vrinda%20Store%20Data%20Analysi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randh\OneDrive\Desktop\Vrinda%20Store%20Data%20Analysi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randh\OneDrive\Desktop\Vrinda%20Store%20Data%20Analysis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andh\OneDrive\Desktop\Vrinda%20Store%20Data%20Analysi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randh\OneDrive\Desktop\Vrinda%20Store%20Data%20Analysi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Analysis.xlsx]Order vs Sales!PivotTable1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Orders</a:t>
            </a:r>
            <a:r>
              <a:rPr lang="en-IN" baseline="0"/>
              <a:t> Vs Sales</a:t>
            </a:r>
            <a:endParaRPr lang="en-IN" baseline="0"/>
          </a:p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N"/>
          </a:p>
        </c:rich>
      </c:tx>
      <c:layout>
        <c:manualLayout>
          <c:xMode val="edge"/>
          <c:yMode val="edge"/>
          <c:x val="0.14838188976378"/>
          <c:y val="0.030946065428824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2991426071741"/>
          <c:y val="0.2210433244916"/>
          <c:w val="0.761865048118985"/>
          <c:h val="0.6538757423226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'[Vrinda Store Data Analysis.xlsx]Order vs Sales'!$B$3</c:f>
              <c:strCache>
                <c:ptCount val="1"/>
                <c:pt idx="0">
                  <c:v>Sum of 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'[Vrinda Store Data Analysis.xlsx]Order vs Sales'!$A$4:$A$15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'[Vrinda Store Data Analysis.xlsx]Order vs Sales'!$B$4:$B$15</c:f>
              <c:numCache>
                <c:formatCode>General</c:formatCode>
                <c:ptCount val="12"/>
                <c:pt idx="0">
                  <c:v>1820601</c:v>
                </c:pt>
                <c:pt idx="1">
                  <c:v>1875932</c:v>
                </c:pt>
                <c:pt idx="2">
                  <c:v>1928066</c:v>
                </c:pt>
                <c:pt idx="3">
                  <c:v>1829263</c:v>
                </c:pt>
                <c:pt idx="4">
                  <c:v>1797822</c:v>
                </c:pt>
                <c:pt idx="5">
                  <c:v>1750966</c:v>
                </c:pt>
                <c:pt idx="6">
                  <c:v>1772300</c:v>
                </c:pt>
                <c:pt idx="7">
                  <c:v>1808505</c:v>
                </c:pt>
                <c:pt idx="8">
                  <c:v>1688871</c:v>
                </c:pt>
                <c:pt idx="9">
                  <c:v>1666662</c:v>
                </c:pt>
                <c:pt idx="10">
                  <c:v>1615356</c:v>
                </c:pt>
                <c:pt idx="11">
                  <c:v>1622033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35267631"/>
        <c:axId val="2035268111"/>
      </c:barChart>
      <c:lineChart>
        <c:grouping val="standard"/>
        <c:varyColors val="0"/>
        <c:ser>
          <c:idx val="1"/>
          <c:order val="1"/>
          <c:tx>
            <c:strRef>
              <c:f>'[Vrinda Store Data Analysis.xlsx]Order vs Sales'!$C$3</c:f>
              <c:strCache>
                <c:ptCount val="1"/>
                <c:pt idx="0">
                  <c:v>Count of Order ID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'[Vrinda Store Data Analysis.xlsx]Order vs Sales'!$A$4:$A$15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'[Vrinda Store Data Analysis.xlsx]Order vs Sales'!$C$4:$C$15</c:f>
              <c:numCache>
                <c:formatCode>General</c:formatCode>
                <c:ptCount val="12"/>
                <c:pt idx="0">
                  <c:v>2702</c:v>
                </c:pt>
                <c:pt idx="1">
                  <c:v>2750</c:v>
                </c:pt>
                <c:pt idx="2">
                  <c:v>2819</c:v>
                </c:pt>
                <c:pt idx="3">
                  <c:v>2685</c:v>
                </c:pt>
                <c:pt idx="4">
                  <c:v>2617</c:v>
                </c:pt>
                <c:pt idx="5">
                  <c:v>2597</c:v>
                </c:pt>
                <c:pt idx="6">
                  <c:v>2579</c:v>
                </c:pt>
                <c:pt idx="7">
                  <c:v>2617</c:v>
                </c:pt>
                <c:pt idx="8">
                  <c:v>2490</c:v>
                </c:pt>
                <c:pt idx="9">
                  <c:v>2424</c:v>
                </c:pt>
                <c:pt idx="10">
                  <c:v>2383</c:v>
                </c:pt>
                <c:pt idx="11">
                  <c:v>2384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035255151"/>
        <c:axId val="2035270991"/>
      </c:lineChart>
      <c:catAx>
        <c:axId val="2035267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35268111"/>
        <c:crosses val="autoZero"/>
        <c:auto val="1"/>
        <c:lblAlgn val="ctr"/>
        <c:lblOffset val="100"/>
        <c:noMultiLvlLbl val="0"/>
      </c:catAx>
      <c:valAx>
        <c:axId val="2035268111"/>
        <c:scaling>
          <c:orientation val="minMax"/>
        </c:scaling>
        <c:delete val="0"/>
        <c:axPos val="l"/>
        <c:numFmt formatCode="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35267631"/>
        <c:crosses val="autoZero"/>
        <c:crossBetween val="between"/>
      </c:valAx>
      <c:catAx>
        <c:axId val="203525515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35270991"/>
        <c:crosses val="autoZero"/>
        <c:auto val="1"/>
        <c:lblAlgn val="ctr"/>
        <c:lblOffset val="100"/>
        <c:noMultiLvlLbl val="0"/>
      </c:catAx>
      <c:valAx>
        <c:axId val="20352709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35255151"/>
        <c:crosses val="max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464249125109361"/>
          <c:y val="0.0319402382394508"/>
          <c:w val="0.388528652668416"/>
          <c:h val="0.1492052883310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ac87281-fc8b-4023-a57b-bff6fe7f50bc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Analysis.xlsx]Men Vs Women!PivotTable2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Sales:</a:t>
            </a:r>
            <a:r>
              <a:rPr lang="en-US" baseline="0"/>
              <a:t> Men Vs Women</a:t>
            </a:r>
            <a:endParaRPr lang="en-US" baseline="0"/>
          </a:p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rich>
      </c:tx>
      <c:layout>
        <c:manualLayout>
          <c:xMode val="edge"/>
          <c:yMode val="edge"/>
          <c:x val="0.145286273211971"/>
          <c:y val="0.045132672287757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'[Vrinda Store Data Analysis.xlsx]Men Vs Women'!$B$3</c:f>
              <c:strCache>
                <c:ptCount val="1"/>
                <c:pt idx="0">
                  <c:v>Total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-0.141666666666667"/>
                  <c:y val="0.074074074074074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62109"/>
                        <a:gd name="adj2" fmla="val -34907"/>
                      </a:avLst>
                    </a:prstGeom>
                    <a:noFill/>
                    <a:ln>
                      <a:noFill/>
                    </a:ln>
                  </c15:spPr>
                  <c15:layout/>
                </c:ext>
              </c:extLst>
            </c:dLbl>
            <c:dLbl>
              <c:idx val="1"/>
              <c:layout>
                <c:manualLayout>
                  <c:x val="0.163888888888889"/>
                  <c:y val="-0.111111111111111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1000" b="1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>
                        <a:gd name="adj1" fmla="val -78829"/>
                        <a:gd name="adj2" fmla="val 66013"/>
                      </a:avLst>
                    </a:prstGeom>
                    <a:noFill/>
                    <a:ln>
                      <a:noFill/>
                    </a:ln>
                  </c15:spPr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'[Vrinda Store Data Analysis.xlsx]Men Vs Women'!$A$4:$A$5</c:f>
              <c:strCache>
                <c:ptCount val="2"/>
                <c:pt idx="0">
                  <c:v>Men</c:v>
                </c:pt>
                <c:pt idx="1">
                  <c:v>Women</c:v>
                </c:pt>
              </c:strCache>
            </c:strRef>
          </c:cat>
          <c:val>
            <c:numRef>
              <c:f>'[Vrinda Store Data Analysis.xlsx]Men Vs Women'!$B$4:$B$5</c:f>
              <c:numCache>
                <c:formatCode>General</c:formatCode>
                <c:ptCount val="2"/>
                <c:pt idx="0">
                  <c:v>7613604</c:v>
                </c:pt>
                <c:pt idx="1">
                  <c:v>13562773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69a7f01-b405-4f98-8f77-33924918b701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Analysis.xlsx]Age N Gender!PivotTable5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Orders:</a:t>
            </a:r>
            <a:r>
              <a:rPr lang="en-IN" baseline="0"/>
              <a:t> Age Vs Gender</a:t>
            </a:r>
            <a:endParaRPr lang="en-IN" baseline="0"/>
          </a:p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'[Vrinda Store Data Analysis.xlsx]Age N Gender'!$B$3:$B$4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'[Vrinda Store Data Analysis.xlsx]Age N Gender'!$A$5:$A$7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Teenager</c:v>
                </c:pt>
              </c:strCache>
            </c:strRef>
          </c:cat>
          <c:val>
            <c:numRef>
              <c:f>'[Vrinda Store Data Analysis.xlsx]Age N Gender'!$B$5:$B$7</c:f>
              <c:numCache>
                <c:formatCode>0.00%</c:formatCode>
                <c:ptCount val="3"/>
                <c:pt idx="0">
                  <c:v>0.154700937288627</c:v>
                </c:pt>
                <c:pt idx="1">
                  <c:v>0.0591361484201372</c:v>
                </c:pt>
                <c:pt idx="2">
                  <c:v>0.0919573549779367</c:v>
                </c:pt>
              </c:numCache>
            </c:numRef>
          </c:val>
        </c:ser>
        <c:ser>
          <c:idx val="1"/>
          <c:order val="1"/>
          <c:tx>
            <c:strRef>
              <c:f>'[Vrinda Store Data Analysis.xlsx]Age N Gender'!$C$3:$C$4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'[Vrinda Store Data Analysis.xlsx]Age N Gender'!$A$5:$A$7</c:f>
              <c:strCache>
                <c:ptCount val="3"/>
                <c:pt idx="0">
                  <c:v>Adult</c:v>
                </c:pt>
                <c:pt idx="1">
                  <c:v>Senior</c:v>
                </c:pt>
                <c:pt idx="2">
                  <c:v>Teenager</c:v>
                </c:pt>
              </c:strCache>
            </c:strRef>
          </c:cat>
          <c:val>
            <c:numRef>
              <c:f>'[Vrinda Store Data Analysis.xlsx]Age N Gender'!$C$5:$C$7</c:f>
              <c:numCache>
                <c:formatCode>0.00%</c:formatCode>
                <c:ptCount val="3"/>
                <c:pt idx="0">
                  <c:v>0.345927142719103</c:v>
                </c:pt>
                <c:pt idx="1">
                  <c:v>0.136985860147518</c:v>
                </c:pt>
                <c:pt idx="2">
                  <c:v>0.211292556446678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6189439"/>
        <c:axId val="206187999"/>
      </c:barChart>
      <c:catAx>
        <c:axId val="206189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6187999"/>
        <c:crosses val="autoZero"/>
        <c:auto val="1"/>
        <c:lblAlgn val="ctr"/>
        <c:lblOffset val="100"/>
        <c:noMultiLvlLbl val="0"/>
      </c:catAx>
      <c:valAx>
        <c:axId val="206187999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6189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9295384951881"/>
          <c:y val="0.0826855497229513"/>
          <c:w val="0.129268372703412"/>
          <c:h val="0.2235174249052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e5950d2-cbdf-438f-9d91-2f3d28ada463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Analysis.xlsx]Top 5 States Sale!PivotTable7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</a:t>
            </a:r>
            <a:r>
              <a:rPr lang="en-IN" baseline="0"/>
              <a:t> 5 State Sales</a:t>
            </a:r>
            <a:endParaRPr lang="en-IN" baseline="0"/>
          </a:p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'[Vrinda Store Data Analysis.xlsx]Top 5 States Sale'!$B$3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'[Vrinda Store Data Analysis.xlsx]Top 5 States Sale'!$A$4:$A$8</c:f>
              <c:strCache>
                <c:ptCount val="5"/>
                <c:pt idx="0">
                  <c:v>KARNATAKA</c:v>
                </c:pt>
                <c:pt idx="1">
                  <c:v>MAHARASHTRA</c:v>
                </c:pt>
                <c:pt idx="2">
                  <c:v>TAMIL NADU</c:v>
                </c:pt>
                <c:pt idx="3">
                  <c:v>TELANGANA</c:v>
                </c:pt>
                <c:pt idx="4">
                  <c:v>UTTAR PRADESH</c:v>
                </c:pt>
              </c:strCache>
            </c:strRef>
          </c:cat>
          <c:val>
            <c:numRef>
              <c:f>'[Vrinda Store Data Analysis.xlsx]Top 5 States Sale'!$B$4:$B$8</c:f>
              <c:numCache>
                <c:formatCode>General</c:formatCode>
                <c:ptCount val="5"/>
                <c:pt idx="0">
                  <c:v>2646358</c:v>
                </c:pt>
                <c:pt idx="1">
                  <c:v>2990221</c:v>
                </c:pt>
                <c:pt idx="2">
                  <c:v>1678877</c:v>
                </c:pt>
                <c:pt idx="3">
                  <c:v>1712439</c:v>
                </c:pt>
                <c:pt idx="4">
                  <c:v>2104659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63708879"/>
        <c:axId val="1163705039"/>
      </c:barChart>
      <c:catAx>
        <c:axId val="11637088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63705039"/>
        <c:crosses val="autoZero"/>
        <c:auto val="1"/>
        <c:lblAlgn val="ctr"/>
        <c:lblOffset val="100"/>
        <c:noMultiLvlLbl val="0"/>
      </c:catAx>
      <c:valAx>
        <c:axId val="1163705039"/>
        <c:scaling>
          <c:orientation val="minMax"/>
        </c:scaling>
        <c:delete val="0"/>
        <c:axPos val="b"/>
        <c:numFmt formatCode="0.0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163708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73bbf4c-97c0-4a0e-87f0-24fb639c22ef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Analysis.xlsx]Order Status!PivotTable3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Order</a:t>
            </a:r>
            <a:r>
              <a:rPr lang="en-IN" baseline="0"/>
              <a:t> Status</a:t>
            </a:r>
            <a:endParaRPr lang="en-I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234627952755906"/>
          <c:y val="0.222034120734908"/>
          <c:w val="0.400475721784777"/>
          <c:h val="0.667459536307962"/>
        </c:manualLayout>
      </c:layout>
      <c:pieChart>
        <c:varyColors val="1"/>
        <c:ser>
          <c:idx val="0"/>
          <c:order val="0"/>
          <c:tx>
            <c:strRef>
              <c:f>'[Vrinda Store Data Analysis.xlsx]Order Status'!$B$3</c:f>
              <c:strCache>
                <c:ptCount val="1"/>
                <c:pt idx="0">
                  <c:v>Total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explosion val="14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"/>
                  <c:y val="0.125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277777777777778"/>
                  <c:y val="-0.138888888888889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305555555555556"/>
                  <c:y val="0.0046296296296296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65000"/>
                    <a:lumOff val="35000"/>
                  </a:sysClr>
                </a:solidFill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0"/>
                <c15:leaderLines/>
              </c:ext>
            </c:extLst>
          </c:dLbls>
          <c:cat>
            <c:strRef>
              <c:f>'[Vrinda Store Data Analysis.xlsx]Order Status'!$A$4:$A$7</c:f>
              <c:strCache>
                <c:ptCount val="4"/>
                <c:pt idx="0">
                  <c:v>Cancelled</c:v>
                </c:pt>
                <c:pt idx="1">
                  <c:v>Delivered</c:v>
                </c:pt>
                <c:pt idx="2">
                  <c:v>Refunded</c:v>
                </c:pt>
                <c:pt idx="3">
                  <c:v>Returned</c:v>
                </c:pt>
              </c:strCache>
            </c:strRef>
          </c:cat>
          <c:val>
            <c:numRef>
              <c:f>'[Vrinda Store Data Analysis.xlsx]Order Status'!$B$4:$B$7</c:f>
              <c:numCache>
                <c:formatCode>General</c:formatCode>
                <c:ptCount val="4"/>
                <c:pt idx="0">
                  <c:v>844</c:v>
                </c:pt>
                <c:pt idx="1">
                  <c:v>28641</c:v>
                </c:pt>
                <c:pt idx="2">
                  <c:v>517</c:v>
                </c:pt>
                <c:pt idx="3">
                  <c:v>1045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90"/>
      </c:pieChart>
    </c:plotArea>
    <c:plotVisOnly val="1"/>
    <c:dispBlanksAs val="gap"/>
    <c:showDLblsOverMax val="0"/>
    <c:extLst>
      <c:ext uri="{0b15fc19-7d7d-44ad-8c2d-2c3a37ce22c3}">
        <chartProps xmlns="https://web.wps.cn/et/2018/main" chartId="{4e89439c-c892-4f36-9134-0d2ef08ed939}"/>
      </c:ext>
    </c:extLst>
  </c:chart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[Vrinda Store Data Analysis.xlsx]Channels!PivotTable6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rgbClr val="FF0000"/>
                </a:solidFill>
              </a:rPr>
              <a:t>Orders : Channels</a:t>
            </a:r>
            <a:endParaRPr lang="en-US">
              <a:solidFill>
                <a:srgbClr val="FF0000"/>
              </a:solidFill>
            </a:endParaRPr>
          </a:p>
        </c:rich>
      </c:tx>
      <c:layout>
        <c:manualLayout>
          <c:xMode val="edge"/>
          <c:yMode val="edge"/>
          <c:x val="0.0175"/>
          <c:y val="0.036662326123963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strRef>
              <c:f>'[Vrinda Store Data Analysis.xlsx]Channels'!$B$3</c:f>
              <c:strCache>
                <c:ptCount val="1"/>
                <c:pt idx="0">
                  <c:v>Total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'[Vrinda Store Data Analysis.xlsx]Channels'!$A$4:$A$10</c:f>
              <c:strCache>
                <c:ptCount val="7"/>
                <c:pt idx="0">
                  <c:v>Ajio</c:v>
                </c:pt>
                <c:pt idx="1">
                  <c:v>Amazon</c:v>
                </c:pt>
                <c:pt idx="2">
                  <c:v>Flipkart</c:v>
                </c:pt>
                <c:pt idx="3">
                  <c:v>Meesho</c:v>
                </c:pt>
                <c:pt idx="4">
                  <c:v>Myntra</c:v>
                </c:pt>
                <c:pt idx="5">
                  <c:v>Nalli</c:v>
                </c:pt>
                <c:pt idx="6">
                  <c:v>Others</c:v>
                </c:pt>
              </c:strCache>
            </c:strRef>
          </c:cat>
          <c:val>
            <c:numRef>
              <c:f>'[Vrinda Store Data Analysis.xlsx]Channels'!$B$4:$B$10</c:f>
              <c:numCache>
                <c:formatCode>0.0%</c:formatCode>
                <c:ptCount val="7"/>
                <c:pt idx="0">
                  <c:v>0.0621960253808742</c:v>
                </c:pt>
                <c:pt idx="1">
                  <c:v>0.354816890520823</c:v>
                </c:pt>
                <c:pt idx="2">
                  <c:v>0.215898476503366</c:v>
                </c:pt>
                <c:pt idx="3">
                  <c:v>0.0450285051695816</c:v>
                </c:pt>
                <c:pt idx="4">
                  <c:v>0.23364576287564</c:v>
                </c:pt>
                <c:pt idx="5">
                  <c:v>0.0477984990498277</c:v>
                </c:pt>
                <c:pt idx="6">
                  <c:v>0.0406158404998873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26f0c16-3bca-4686-a2a9-d52b3cf38155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jpe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5B87156-B780-4713-AC55-D8D56CF0F37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7484F4A-6CDB-49B9-BB12-D1B1B2174AD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3169" y="1482225"/>
            <a:ext cx="8825658" cy="1117229"/>
          </a:xfrm>
        </p:spPr>
        <p:txBody>
          <a:bodyPr/>
          <a:lstStyle/>
          <a:p>
            <a:pPr algn="ctr"/>
            <a:r>
              <a:rPr lang="en-US" sz="3200" b="1" i="1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dirty="0"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Vrinda Store Sales Analysis Dashboard</a:t>
            </a:r>
            <a:endParaRPr lang="en-US" altLang="en-US" sz="3200" dirty="0">
              <a:highlight>
                <a:srgbClr val="FF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02268" y="3151201"/>
            <a:ext cx="2987461" cy="555597"/>
          </a:xfrm>
        </p:spPr>
        <p:txBody>
          <a:bodyPr/>
          <a:lstStyle/>
          <a:p>
            <a:pPr algn="ctr"/>
            <a:r>
              <a:rPr lang="en-IN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BCA</a:t>
            </a:r>
            <a:endParaRPr lang="en-IN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08014" y="607553"/>
            <a:ext cx="23759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</a:t>
            </a:r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Synopsys for Project</a:t>
            </a:r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on</a:t>
            </a:r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9065279" y="5001584"/>
            <a:ext cx="2589777" cy="1319436"/>
            <a:chOff x="9065279" y="4989310"/>
            <a:chExt cx="2589777" cy="1319436"/>
          </a:xfrm>
        </p:grpSpPr>
        <p:sp>
          <p:nvSpPr>
            <p:cNvPr id="7" name="Rectangle: Rounded Corners 6"/>
            <p:cNvSpPr/>
            <p:nvPr/>
          </p:nvSpPr>
          <p:spPr>
            <a:xfrm>
              <a:off x="9065279" y="4989310"/>
              <a:ext cx="2589777" cy="1319436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26" name="image1.png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9542" y="5082658"/>
              <a:ext cx="2381250" cy="1157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Subtitle 2"/>
          <p:cNvSpPr txBox="1"/>
          <p:nvPr/>
        </p:nvSpPr>
        <p:spPr bwMode="gray">
          <a:xfrm>
            <a:off x="2758440" y="3686810"/>
            <a:ext cx="6694805" cy="5499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Applications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02687" y="4216754"/>
            <a:ext cx="6097022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2920" algn="ctr">
              <a:lnSpc>
                <a:spcPts val="1800"/>
              </a:lnSpc>
              <a:buNone/>
            </a:pPr>
            <a:r>
              <a:rPr lang="en-US" dirty="0"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endParaRPr lang="en-IN" dirty="0">
              <a:solidFill>
                <a:srgbClr val="FFC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2920" algn="ctr">
              <a:lnSpc>
                <a:spcPts val="1800"/>
              </a:lnSpc>
              <a:buNone/>
            </a:pP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alt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Khushi Dixit</a:t>
            </a:r>
            <a:endParaRPr lang="en-IN" altLang="en-US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2920" algn="ctr">
              <a:lnSpc>
                <a:spcPts val="1800"/>
              </a:lnSpc>
              <a:buNone/>
            </a:pPr>
            <a:r>
              <a:rPr lang="en-IN" alt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of the Department ,CSA</a:t>
            </a:r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dirty="0">
              <a:solidFill>
                <a:srgbClr val="FFC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1825" y="5096510"/>
            <a:ext cx="3273425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2920" algn="just">
              <a:lnSpc>
                <a:spcPts val="18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endParaRPr lang="en-US" sz="1800" b="1" dirty="0">
              <a:solidFill>
                <a:schemeClr val="bg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2920" algn="just">
              <a:lnSpc>
                <a:spcPts val="1800"/>
              </a:lnSpc>
              <a:buNone/>
            </a:pPr>
            <a:endParaRPr lang="en-US" sz="1800" b="1" dirty="0">
              <a:solidFill>
                <a:schemeClr val="bg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2920">
              <a:lnSpc>
                <a:spcPts val="1800"/>
              </a:lnSpc>
              <a:buNone/>
            </a:pPr>
            <a:r>
              <a:rPr lang="en-IN" alt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Name:Randhir Thakur</a:t>
            </a:r>
            <a:endParaRPr lang="en-IN" alt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R="502920">
              <a:lnSpc>
                <a:spcPts val="1800"/>
              </a:lnSpc>
              <a:buNone/>
            </a:pPr>
            <a:r>
              <a:rPr lang="en-IN" alt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Enrollment No: 23CSA2BC172</a:t>
            </a:r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R="502920">
              <a:lnSpc>
                <a:spcPts val="1800"/>
              </a:lnSpc>
              <a:buNone/>
            </a:pPr>
            <a:endParaRPr lang="en-IN" sz="1400" dirty="0">
              <a:solidFill>
                <a:schemeClr val="bg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01909" y="5268922"/>
            <a:ext cx="3897003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2920" algn="just">
              <a:lnSpc>
                <a:spcPts val="18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Submitted </a:t>
            </a:r>
            <a:r>
              <a:rPr lang="en-US" b="1" dirty="0">
                <a:solidFill>
                  <a:schemeClr val="bg1"/>
                </a:solidFill>
                <a:ea typeface="Times New Roman" panose="02020603050405020304" pitchFamily="18" charset="0"/>
              </a:rPr>
              <a:t>to</a:t>
            </a:r>
            <a:r>
              <a:rPr lang="en-US" sz="18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:</a:t>
            </a:r>
            <a:endParaRPr lang="en-US" sz="1800" b="1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</a:rPr>
              <a:t>Dr. Rakesh Sharma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Head of the Department, CSA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66272" y="2643128"/>
            <a:ext cx="4659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Submitted in partial fulfillment for the Award of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ABSTRACT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74985"/>
            <a:ext cx="9836257" cy="3890803"/>
          </a:xfrm>
        </p:spPr>
        <p:txBody>
          <a:bodyPr>
            <a:noAutofit/>
          </a:bodyPr>
          <a:lstStyle/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Analyzes Vrinda Store sales data (2022) using Excel dashboard. 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sales trends and customer behavior. 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Studies sales vs orders, monthly trends, and channels. 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Uses charts and graphs for easy understanding. 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Helps in better decisions and business improvement. 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INTRODUCTION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74985"/>
            <a:ext cx="9836257" cy="3890803"/>
          </a:xfrm>
        </p:spPr>
        <p:txBody>
          <a:bodyPr/>
          <a:lstStyle/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Vrinda Store is a retail business that sells products through multiple channels.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the store’s sales data for the year 2022.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helps in understanding sales performance and customer behavior.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An Excel dashboard is used to convert raw data into meaningful insights.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clear view of trends, patterns, and business performance.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supports better decision-making and business growth.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LITERATURE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74985"/>
            <a:ext cx="9836257" cy="3890803"/>
          </a:xfrm>
        </p:spPr>
        <p:txBody>
          <a:bodyPr/>
          <a:lstStyle/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converts raw data into useful information.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understanding business performance and customer behavior.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present data in a visual and easy format.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Charts and graphs simplify complex data.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Excel is widely used for data analysis and dashboard creation.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use data insights for better decision-making.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OBJECTIVE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74985"/>
            <a:ext cx="9836257" cy="3890803"/>
          </a:xfrm>
        </p:spPr>
        <p:txBody>
          <a:bodyPr/>
          <a:lstStyle/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sales and order performance of Vrinda Store.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customer buying behavior and trends.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sales across different months and channels.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find top-performing states and product categories.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useful insights for better business decisions.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9277798" cy="706964"/>
          </a:xfrm>
        </p:spPr>
        <p:txBody>
          <a:bodyPr/>
          <a:lstStyle/>
          <a:p>
            <a:pPr algn="ctr"/>
            <a:r>
              <a:rPr lang="en-IN" b="1" u="sng" dirty="0"/>
              <a:t>TOOLS AND TECHNOLOGY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74985"/>
            <a:ext cx="9836257" cy="3890803"/>
          </a:xfrm>
        </p:spPr>
        <p:txBody>
          <a:bodyPr/>
          <a:lstStyle/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Tables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Charts (Bar, Pie, Line, Column)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Data Sorting &amp; Filtering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Formatting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Dashboard Design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Excel data analysis tools infographi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3530" y="2255520"/>
            <a:ext cx="6318885" cy="42456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METHODOLOGY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74985"/>
            <a:ext cx="9836257" cy="3890803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o"/>
            </a:pP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hart 3"/>
          <p:cNvGraphicFramePr/>
          <p:nvPr/>
        </p:nvGraphicFramePr>
        <p:xfrm>
          <a:off x="4311015" y="2374900"/>
          <a:ext cx="4206875" cy="2887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8679180" y="2374583"/>
          <a:ext cx="2705100" cy="2820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182880" y="2374265"/>
          <a:ext cx="3966845" cy="2887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METHODOLOGY</a:t>
            </a:r>
            <a:endParaRPr lang="en-IN" b="1" u="sng" dirty="0"/>
          </a:p>
        </p:txBody>
      </p:sp>
      <p:graphicFrame>
        <p:nvGraphicFramePr>
          <p:cNvPr id="13" name="Content Placeholder 12"/>
          <p:cNvGraphicFramePr/>
          <p:nvPr>
            <p:ph idx="1"/>
          </p:nvPr>
        </p:nvGraphicFramePr>
        <p:xfrm>
          <a:off x="3603625" y="2432685"/>
          <a:ext cx="4763135" cy="2888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411480" y="2432368"/>
          <a:ext cx="3573780" cy="2736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8537575" y="2508885"/>
          <a:ext cx="3553460" cy="2745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/>
              <a:t>CONCLUSION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74985"/>
            <a:ext cx="9836257" cy="3890803"/>
          </a:xfrm>
        </p:spPr>
        <p:txBody>
          <a:bodyPr/>
          <a:lstStyle/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March recorded the highest sales among all months.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Women contributed more to shopping, around 65% of total sales.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Uttar Pradesh, Karnataka, and Maharashtra are the top-performing states.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Around 92% of orders were successfully delivered.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Only a small percentage were returned (3%), cancelled (3%), and refunded (2%).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Amazon is the highest contributing sales channel.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Amazon, Flipkart, and Myntra together account for nearly 80% of total sales.</a:t>
            </a:r>
            <a:endParaRPr lang="en-US" alt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2311</Words>
  <Application>WPS Presentation</Application>
  <PresentationFormat>Custom</PresentationFormat>
  <Paragraphs>86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Wingdings 3</vt:lpstr>
      <vt:lpstr>Arial</vt:lpstr>
      <vt:lpstr>Times New Roman</vt:lpstr>
      <vt:lpstr>Wingdings</vt:lpstr>
      <vt:lpstr>Century Gothic</vt:lpstr>
      <vt:lpstr>Microsoft YaHei</vt:lpstr>
      <vt:lpstr>Arial Unicode MS</vt:lpstr>
      <vt:lpstr>Calibri</vt:lpstr>
      <vt:lpstr>Ion Boardroom</vt:lpstr>
      <vt:lpstr> Vrinda Store Sales Analysis Dashboard</vt:lpstr>
      <vt:lpstr>ABSTRACT</vt:lpstr>
      <vt:lpstr>INTRODUCTION</vt:lpstr>
      <vt:lpstr>LITERATURE</vt:lpstr>
      <vt:lpstr>OBJECTIVE</vt:lpstr>
      <vt:lpstr>TOOLS AND TECHNOLOGY</vt:lpstr>
      <vt:lpstr>METHODOLOGY</vt:lpstr>
      <vt:lpstr>METHODOLOGY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(Title of the Project for Industrial Training/Internship)</dc:title>
  <dc:creator>NITIN VARGHESE</dc:creator>
  <cp:lastModifiedBy>randh</cp:lastModifiedBy>
  <cp:revision>14</cp:revision>
  <dcterms:created xsi:type="dcterms:W3CDTF">2026-03-27T10:32:00Z</dcterms:created>
  <dcterms:modified xsi:type="dcterms:W3CDTF">2026-04-03T14:21:11Z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F0D818E615D848C0BA7F91E86E774E7D_13</vt:lpwstr>
  </property>
  <property fmtid="{D5CDD505-2E9C-101B-9397-08002B2CF9AE}" pid="3" name="KSOProductBuildVer">
    <vt:lpwstr>1033-12.1.0.25242</vt:lpwstr>
  </property>
</Properties>
</file>